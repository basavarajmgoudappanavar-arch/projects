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1" r:id="rId3"/>
    <p:sldId id="262" r:id="rId4"/>
    <p:sldId id="264" r:id="rId5"/>
    <p:sldId id="265" r:id="rId6"/>
    <p:sldId id="266" r:id="rId7"/>
    <p:sldId id="278" r:id="rId8"/>
    <p:sldId id="267" r:id="rId9"/>
    <p:sldId id="268" r:id="rId10"/>
    <p:sldId id="269" r:id="rId11"/>
    <p:sldId id="270" r:id="rId12"/>
    <p:sldId id="271" r:id="rId13"/>
    <p:sldId id="272" r:id="rId14"/>
    <p:sldId id="277" r:id="rId15"/>
    <p:sldId id="275" r:id="rId16"/>
    <p:sldId id="276"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96F9AC-FC10-4F7C-BF70-C90C72A15A55}"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40311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96F9AC-FC10-4F7C-BF70-C90C72A15A55}"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4162901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96F9AC-FC10-4F7C-BF70-C90C72A15A55}"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3710277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96F9AC-FC10-4F7C-BF70-C90C72A15A55}"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669203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96F9AC-FC10-4F7C-BF70-C90C72A15A55}" type="datetimeFigureOut">
              <a:rPr lang="en-IN" smtClean="0"/>
              <a:t>15-12-2025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1837960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96F9AC-FC10-4F7C-BF70-C90C72A15A55}" type="datetimeFigureOut">
              <a:rPr lang="en-IN" smtClean="0"/>
              <a:t>15-12-2025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3906801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96F9AC-FC10-4F7C-BF70-C90C72A15A55}" type="datetimeFigureOut">
              <a:rPr lang="en-IN" smtClean="0"/>
              <a:t>15-12-2025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4270463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96F9AC-FC10-4F7C-BF70-C90C72A15A55}"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548260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96F9AC-FC10-4F7C-BF70-C90C72A15A55}"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3879018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96F9AC-FC10-4F7C-BF70-C90C72A15A55}"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3917285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96F9AC-FC10-4F7C-BF70-C90C72A15A55}"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B680111-C03F-4A42-B245-C2B870B74075}"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43986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696F9AC-FC10-4F7C-BF70-C90C72A15A55}"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203286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696F9AC-FC10-4F7C-BF70-C90C72A15A55}"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680111-C03F-4A42-B245-C2B870B74075}"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31783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696F9AC-FC10-4F7C-BF70-C90C72A15A55}"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3920344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96F9AC-FC10-4F7C-BF70-C90C72A15A55}"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3568114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96F9AC-FC10-4F7C-BF70-C90C72A15A55}"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680111-C03F-4A42-B245-C2B870B74075}" type="slidenum">
              <a:rPr lang="en-IN" smtClean="0"/>
              <a:t>‹#›</a:t>
            </a:fld>
            <a:endParaRPr lang="en-IN"/>
          </a:p>
        </p:txBody>
      </p:sp>
    </p:spTree>
    <p:extLst>
      <p:ext uri="{BB962C8B-B14F-4D97-AF65-F5344CB8AC3E}">
        <p14:creationId xmlns:p14="http://schemas.microsoft.com/office/powerpoint/2010/main" val="4269457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696F9AC-FC10-4F7C-BF70-C90C72A15A55}" type="datetimeFigureOut">
              <a:rPr lang="en-IN" smtClean="0"/>
              <a:t>15-12-2025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B680111-C03F-4A42-B245-C2B870B74075}" type="slidenum">
              <a:rPr lang="en-IN" smtClean="0"/>
              <a:t>‹#›</a:t>
            </a:fld>
            <a:endParaRPr lang="en-IN"/>
          </a:p>
        </p:txBody>
      </p:sp>
    </p:spTree>
    <p:extLst>
      <p:ext uri="{BB962C8B-B14F-4D97-AF65-F5344CB8AC3E}">
        <p14:creationId xmlns:p14="http://schemas.microsoft.com/office/powerpoint/2010/main" val="34316081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2589212" y="560439"/>
            <a:ext cx="8915400" cy="5230761"/>
          </a:xfrm>
        </p:spPr>
        <p:txBody>
          <a:bodyPr>
            <a:normAutofit/>
          </a:bodyPr>
          <a:lstStyle/>
          <a:p>
            <a:pPr>
              <a:buFont typeface="Wingdings" panose="05000000000000000000" pitchFamily="2" charset="2"/>
              <a:buChar char="v"/>
            </a:pPr>
            <a:endParaRPr lang="en-IN" sz="3200" b="1" dirty="0"/>
          </a:p>
          <a:p>
            <a:pPr>
              <a:buFont typeface="Wingdings" panose="05000000000000000000" pitchFamily="2" charset="2"/>
              <a:buChar char="v"/>
            </a:pPr>
            <a:r>
              <a:rPr lang="en-IN" sz="3200" b="1" dirty="0"/>
              <a:t>Problem statement </a:t>
            </a:r>
          </a:p>
          <a:p>
            <a:pPr marL="0" indent="0" algn="just">
              <a:buNone/>
            </a:pPr>
            <a:r>
              <a:rPr lang="en-IN" sz="3200" b="1" dirty="0"/>
              <a:t> </a:t>
            </a:r>
          </a:p>
          <a:p>
            <a:pPr marL="0" indent="0" algn="just">
              <a:buNone/>
            </a:pPr>
            <a:r>
              <a:rPr lang="en-US" sz="2400" dirty="0">
                <a:latin typeface="Times New Roman" panose="02020603050405020304" pitchFamily="18" charset="0"/>
                <a:cs typeface="Times New Roman" panose="02020603050405020304" pitchFamily="18" charset="0"/>
              </a:rPr>
              <a:t>Implement a system to ensure consistent, optimum spray coverage over uneven terrain and varying crop height, and to prevent the boom from impacting crops or soil, its height must be monitored and adjusted. Immune to the effects of dust, dirt, and chemicals, and able to detect surfaces of any color with identical accuracy.</a:t>
            </a:r>
            <a:endParaRPr lang="en-IN" sz="2400" b="1" dirty="0">
              <a:latin typeface="Times New Roman" panose="02020603050405020304" pitchFamily="18" charset="0"/>
              <a:cs typeface="Times New Roman" panose="02020603050405020304" pitchFamily="18" charset="0"/>
            </a:endParaRPr>
          </a:p>
          <a:p>
            <a:pPr marL="0" indent="0">
              <a:buNone/>
            </a:pPr>
            <a:endParaRPr lang="en-IN" sz="3200" b="1" dirty="0"/>
          </a:p>
        </p:txBody>
      </p:sp>
      <p:pic>
        <p:nvPicPr>
          <p:cNvPr id="2" name="Google Shape;211;p3">
            <a:extLst>
              <a:ext uri="{FF2B5EF4-FFF2-40B4-BE49-F238E27FC236}">
                <a16:creationId xmlns:a16="http://schemas.microsoft.com/office/drawing/2014/main" id="{24566B48-6BD8-31DB-8AF4-C8C02B3C7FBD}"/>
              </a:ext>
            </a:extLst>
          </p:cNvPr>
          <p:cNvPicPr preferRelativeResize="0"/>
          <p:nvPr/>
        </p:nvPicPr>
        <p:blipFill rotWithShape="1">
          <a:blip r:embed="rId2">
            <a:alphaModFix/>
          </a:blip>
          <a:srcRect l="1673" t="18483" r="2921" b="16827"/>
          <a:stretch/>
        </p:blipFill>
        <p:spPr>
          <a:xfrm>
            <a:off x="8980414" y="208916"/>
            <a:ext cx="2895600" cy="351523"/>
          </a:xfrm>
          <a:prstGeom prst="rect">
            <a:avLst/>
          </a:prstGeom>
          <a:noFill/>
          <a:ln>
            <a:noFill/>
          </a:ln>
        </p:spPr>
      </p:pic>
    </p:spTree>
    <p:extLst>
      <p:ext uri="{BB962C8B-B14F-4D97-AF65-F5344CB8AC3E}">
        <p14:creationId xmlns:p14="http://schemas.microsoft.com/office/powerpoint/2010/main" val="871211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2701255" y="560440"/>
            <a:ext cx="8803357" cy="5604386"/>
          </a:xfrm>
        </p:spPr>
        <p:txBody>
          <a:bodyPr>
            <a:normAutofit fontScale="70000" lnSpcReduction="20000"/>
          </a:bodyPr>
          <a:lstStyle/>
          <a:p>
            <a:pPr algn="just">
              <a:buFont typeface="Wingdings" panose="05000000000000000000" pitchFamily="2" charset="2"/>
              <a:buChar char="v"/>
            </a:pPr>
            <a:endParaRPr lang="en-IN" sz="3200" b="1" dirty="0"/>
          </a:p>
          <a:p>
            <a:pPr algn="just">
              <a:buFont typeface="Wingdings" panose="05000000000000000000" pitchFamily="2" charset="2"/>
              <a:buChar char="v"/>
            </a:pPr>
            <a:r>
              <a:rPr lang="en-IN" sz="4600" b="1" dirty="0"/>
              <a:t>Introduction </a:t>
            </a:r>
          </a:p>
          <a:p>
            <a:pPr marL="0" indent="0" algn="just">
              <a:buNone/>
            </a:pPr>
            <a:endParaRPr lang="en-IN" sz="3200" b="1" dirty="0"/>
          </a:p>
          <a:p>
            <a:pPr marL="0" indent="0" algn="just">
              <a:buNone/>
            </a:pPr>
            <a:r>
              <a:rPr lang="en-IN" sz="3200" b="1" dirty="0"/>
              <a:t>          </a:t>
            </a:r>
            <a:r>
              <a:rPr lang="en-US" sz="3400" dirty="0">
                <a:latin typeface="Times New Roman" panose="02020603050405020304" pitchFamily="18" charset="0"/>
                <a:cs typeface="Times New Roman" panose="02020603050405020304" pitchFamily="18" charset="0"/>
              </a:rPr>
              <a:t>In precision agriculture, maintaining the optimal height of a sprayer boom is essential for consistent and efficient spray coverage over uneven terrain and varying crop heights. If positioned too high, the spray may be ineffective; if too low, it risks damaging crops or soil. A system is required to continuously monitor and adjust the boom height in real-time. Utilizing an ARM Cortex processor with a real-time operating system (RTOS), the system manages the measurement and adjustment of height. The sensor continuously monitors the boom's height, while a stepper motor adjusts the boom to ensure optimal clearance. Automating this process improves efficiency, reduces resource waste, and minimizes crop damage, benefiting modern agricultural operations.</a:t>
            </a:r>
            <a:endParaRPr lang="en-IN" sz="3400" dirty="0">
              <a:latin typeface="Times New Roman" panose="02020603050405020304" pitchFamily="18" charset="0"/>
              <a:cs typeface="Times New Roman" panose="02020603050405020304" pitchFamily="18" charset="0"/>
            </a:endParaRPr>
          </a:p>
        </p:txBody>
      </p:sp>
      <p:pic>
        <p:nvPicPr>
          <p:cNvPr id="2" name="Google Shape;211;p3">
            <a:extLst>
              <a:ext uri="{FF2B5EF4-FFF2-40B4-BE49-F238E27FC236}">
                <a16:creationId xmlns:a16="http://schemas.microsoft.com/office/drawing/2014/main" id="{AEAD55A7-3669-2DE8-0583-92CFB07FAE1D}"/>
              </a:ext>
            </a:extLst>
          </p:cNvPr>
          <p:cNvPicPr preferRelativeResize="0"/>
          <p:nvPr/>
        </p:nvPicPr>
        <p:blipFill rotWithShape="1">
          <a:blip r:embed="rId2">
            <a:alphaModFix/>
          </a:blip>
          <a:srcRect l="1673" t="18483" r="2921" b="16827"/>
          <a:stretch/>
        </p:blipFill>
        <p:spPr>
          <a:xfrm>
            <a:off x="9106249" y="208917"/>
            <a:ext cx="2895600" cy="351523"/>
          </a:xfrm>
          <a:prstGeom prst="rect">
            <a:avLst/>
          </a:prstGeom>
          <a:noFill/>
          <a:ln>
            <a:noFill/>
          </a:ln>
        </p:spPr>
      </p:pic>
    </p:spTree>
    <p:extLst>
      <p:ext uri="{BB962C8B-B14F-4D97-AF65-F5344CB8AC3E}">
        <p14:creationId xmlns:p14="http://schemas.microsoft.com/office/powerpoint/2010/main" val="3354768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2793533" y="265471"/>
            <a:ext cx="8995343" cy="6174658"/>
          </a:xfrm>
        </p:spPr>
        <p:txBody>
          <a:bodyPr>
            <a:noAutofit/>
          </a:bodyPr>
          <a:lstStyle/>
          <a:p>
            <a:pPr>
              <a:buFont typeface="Wingdings" panose="05000000000000000000" pitchFamily="2" charset="2"/>
              <a:buChar char="v"/>
            </a:pPr>
            <a:r>
              <a:rPr lang="en-IN" sz="3200" b="1" dirty="0"/>
              <a:t>Problem Analysis</a:t>
            </a:r>
          </a:p>
          <a:p>
            <a:pPr marL="0" indent="0">
              <a:buNone/>
            </a:pPr>
            <a:r>
              <a:rPr lang="en-IN" sz="2400" b="1" dirty="0"/>
              <a:t> </a:t>
            </a:r>
            <a:r>
              <a:rPr lang="en-IN" sz="2400" b="1" dirty="0">
                <a:latin typeface="Times New Roman" panose="02020603050405020304" pitchFamily="18" charset="0"/>
                <a:cs typeface="Times New Roman" panose="02020603050405020304" pitchFamily="18" charset="0"/>
              </a:rPr>
              <a:t>1.Features Selected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Accurate height measurement for uneven terrain and crops using sensor.</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Continuously monitor and update boom height for immediate adjustments.</a:t>
            </a:r>
            <a:endParaRPr lang="en-US" sz="2400"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2.Assumption made</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Minimal impact from wind and obstacles on sensor readings.</a:t>
            </a:r>
          </a:p>
          <a:p>
            <a:pPr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Constant target height</a:t>
            </a:r>
            <a:r>
              <a:rPr lang="en-US" sz="2400"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a:p>
            <a:pPr marL="0" indent="0" algn="just">
              <a:buNone/>
            </a:pPr>
            <a:r>
              <a:rPr lang="en-IN" sz="2400" b="1" dirty="0">
                <a:latin typeface="Times New Roman" panose="02020603050405020304" pitchFamily="18" charset="0"/>
                <a:cs typeface="Times New Roman" panose="02020603050405020304" pitchFamily="18" charset="0"/>
              </a:rPr>
              <a:t>3.</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Peripherals</a:t>
            </a:r>
          </a:p>
          <a:p>
            <a:pPr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Ultrasonic Sensor: Measures the height.</a:t>
            </a:r>
          </a:p>
          <a:p>
            <a:pPr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Servo Motor : Adjust the sprayer booms height.</a:t>
            </a:r>
          </a:p>
          <a:p>
            <a:pPr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ARM-Cortex Processor.</a:t>
            </a:r>
          </a:p>
        </p:txBody>
      </p:sp>
      <p:pic>
        <p:nvPicPr>
          <p:cNvPr id="2" name="Google Shape;211;p3">
            <a:extLst>
              <a:ext uri="{FF2B5EF4-FFF2-40B4-BE49-F238E27FC236}">
                <a16:creationId xmlns:a16="http://schemas.microsoft.com/office/drawing/2014/main" id="{3260CFEE-D061-1BA1-240F-704F1683AD66}"/>
              </a:ext>
            </a:extLst>
          </p:cNvPr>
          <p:cNvPicPr preferRelativeResize="0"/>
          <p:nvPr/>
        </p:nvPicPr>
        <p:blipFill rotWithShape="1">
          <a:blip r:embed="rId2">
            <a:alphaModFix/>
          </a:blip>
          <a:srcRect l="1673" t="18483" r="2921" b="16827"/>
          <a:stretch/>
        </p:blipFill>
        <p:spPr>
          <a:xfrm>
            <a:off x="9161724" y="0"/>
            <a:ext cx="2895600" cy="351523"/>
          </a:xfrm>
          <a:prstGeom prst="rect">
            <a:avLst/>
          </a:prstGeom>
          <a:noFill/>
          <a:ln>
            <a:noFill/>
          </a:ln>
        </p:spPr>
      </p:pic>
    </p:spTree>
    <p:extLst>
      <p:ext uri="{BB962C8B-B14F-4D97-AF65-F5344CB8AC3E}">
        <p14:creationId xmlns:p14="http://schemas.microsoft.com/office/powerpoint/2010/main" val="226259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1750142" y="393290"/>
            <a:ext cx="9754470" cy="6371304"/>
          </a:xfrm>
        </p:spPr>
        <p:txBody>
          <a:bodyPr>
            <a:normAutofit/>
          </a:bodyPr>
          <a:lstStyle/>
          <a:p>
            <a:pPr>
              <a:buFont typeface="Wingdings" panose="05000000000000000000" pitchFamily="2" charset="2"/>
              <a:buChar char="v"/>
            </a:pPr>
            <a:r>
              <a:rPr lang="en-IN" sz="3200" b="1" dirty="0"/>
              <a:t>Flowchart </a:t>
            </a:r>
          </a:p>
          <a:p>
            <a:pPr marL="0" indent="0" algn="just">
              <a:buNone/>
            </a:pPr>
            <a:r>
              <a:rPr lang="en-IN" sz="3200" b="1" dirty="0"/>
              <a:t> </a:t>
            </a:r>
          </a:p>
        </p:txBody>
      </p:sp>
      <p:pic>
        <p:nvPicPr>
          <p:cNvPr id="5" name="Picture 4">
            <a:extLst>
              <a:ext uri="{FF2B5EF4-FFF2-40B4-BE49-F238E27FC236}">
                <a16:creationId xmlns:a16="http://schemas.microsoft.com/office/drawing/2014/main" id="{1A5E99A3-6543-D274-6882-4C67E8091B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3638" y="924232"/>
            <a:ext cx="6882581" cy="5456903"/>
          </a:xfrm>
          <a:prstGeom prst="rect">
            <a:avLst/>
          </a:prstGeom>
        </p:spPr>
      </p:pic>
      <p:pic>
        <p:nvPicPr>
          <p:cNvPr id="2" name="Google Shape;211;p3">
            <a:extLst>
              <a:ext uri="{FF2B5EF4-FFF2-40B4-BE49-F238E27FC236}">
                <a16:creationId xmlns:a16="http://schemas.microsoft.com/office/drawing/2014/main" id="{DB2821D0-E45A-E57F-2E11-52B55FAF4C9C}"/>
              </a:ext>
            </a:extLst>
          </p:cNvPr>
          <p:cNvPicPr preferRelativeResize="0"/>
          <p:nvPr/>
        </p:nvPicPr>
        <p:blipFill rotWithShape="1">
          <a:blip r:embed="rId3">
            <a:alphaModFix/>
          </a:blip>
          <a:srcRect l="1673" t="18483" r="2921" b="16827"/>
          <a:stretch/>
        </p:blipFill>
        <p:spPr>
          <a:xfrm>
            <a:off x="9173362" y="41767"/>
            <a:ext cx="2895600" cy="351523"/>
          </a:xfrm>
          <a:prstGeom prst="rect">
            <a:avLst/>
          </a:prstGeom>
          <a:noFill/>
          <a:ln>
            <a:noFill/>
          </a:ln>
        </p:spPr>
      </p:pic>
    </p:spTree>
    <p:extLst>
      <p:ext uri="{BB962C8B-B14F-4D97-AF65-F5344CB8AC3E}">
        <p14:creationId xmlns:p14="http://schemas.microsoft.com/office/powerpoint/2010/main" val="3942165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2600587" y="580102"/>
            <a:ext cx="9303391" cy="6277897"/>
          </a:xfrm>
        </p:spPr>
        <p:txBody>
          <a:bodyPr>
            <a:normAutofit fontScale="70000" lnSpcReduction="20000"/>
          </a:bodyPr>
          <a:lstStyle/>
          <a:p>
            <a:pPr>
              <a:buFont typeface="Wingdings" panose="05000000000000000000" pitchFamily="2" charset="2"/>
              <a:buChar char="v"/>
            </a:pPr>
            <a:r>
              <a:rPr lang="en-IN" sz="4600" b="1" dirty="0"/>
              <a:t>Algorithm</a:t>
            </a:r>
          </a:p>
          <a:p>
            <a:pPr marL="0" indent="0">
              <a:buNone/>
            </a:pPr>
            <a:endParaRPr lang="en-IN" sz="3200" b="1" dirty="0"/>
          </a:p>
          <a:p>
            <a:pPr marL="0" indent="0" algn="just">
              <a:buNone/>
            </a:pPr>
            <a:r>
              <a:rPr lang="en-IN" sz="3400" dirty="0">
                <a:latin typeface="Times New Roman" panose="02020603050405020304" pitchFamily="18" charset="0"/>
                <a:cs typeface="Times New Roman" panose="02020603050405020304" pitchFamily="18" charset="0"/>
              </a:rPr>
              <a:t>Step1:Start – Initialize the Ultrasonic sensor, servo motor and UART.</a:t>
            </a:r>
          </a:p>
          <a:p>
            <a:pPr marL="0" indent="0" algn="just">
              <a:buNone/>
            </a:pPr>
            <a:r>
              <a:rPr lang="en-IN" sz="3400" dirty="0">
                <a:latin typeface="Times New Roman" panose="02020603050405020304" pitchFamily="18" charset="0"/>
                <a:cs typeface="Times New Roman" panose="02020603050405020304" pitchFamily="18" charset="0"/>
              </a:rPr>
              <a:t>Step2:Set the correct target height.</a:t>
            </a:r>
          </a:p>
          <a:p>
            <a:pPr marL="0" indent="0" algn="just">
              <a:buNone/>
            </a:pPr>
            <a:r>
              <a:rPr lang="en-IN" sz="3400" dirty="0">
                <a:latin typeface="Times New Roman" panose="02020603050405020304" pitchFamily="18" charset="0"/>
                <a:cs typeface="Times New Roman" panose="02020603050405020304" pitchFamily="18" charset="0"/>
              </a:rPr>
              <a:t>Step3:Measure the height using the ultrasonic sensor.</a:t>
            </a:r>
          </a:p>
          <a:p>
            <a:pPr marL="0" indent="0" algn="just">
              <a:buNone/>
            </a:pPr>
            <a:r>
              <a:rPr lang="en-IN" sz="3400" dirty="0">
                <a:latin typeface="Times New Roman" panose="02020603050405020304" pitchFamily="18" charset="0"/>
                <a:cs typeface="Times New Roman" panose="02020603050405020304" pitchFamily="18" charset="0"/>
              </a:rPr>
              <a:t>Step4:Compare the measured height with target height.</a:t>
            </a:r>
          </a:p>
          <a:p>
            <a:pPr marL="0" indent="0" algn="just">
              <a:buNone/>
            </a:pPr>
            <a:r>
              <a:rPr lang="en-IN" sz="3400" dirty="0">
                <a:latin typeface="Times New Roman" panose="02020603050405020304" pitchFamily="18" charset="0"/>
                <a:cs typeface="Times New Roman" panose="02020603050405020304" pitchFamily="18" charset="0"/>
              </a:rPr>
              <a:t>Step5:Adjust the height using the stepper motor.</a:t>
            </a:r>
          </a:p>
          <a:p>
            <a:pPr marL="0" indent="0" algn="just">
              <a:buNone/>
            </a:pPr>
            <a:r>
              <a:rPr lang="en-IN" sz="3400" dirty="0">
                <a:latin typeface="Times New Roman" panose="02020603050405020304" pitchFamily="18" charset="0"/>
                <a:cs typeface="Times New Roman" panose="02020603050405020304" pitchFamily="18" charset="0"/>
              </a:rPr>
              <a:t>           1.If height grater than the target height lower the boom.</a:t>
            </a:r>
          </a:p>
          <a:p>
            <a:pPr marL="0" indent="0" algn="just">
              <a:buNone/>
            </a:pPr>
            <a:r>
              <a:rPr lang="en-IN" sz="3400" b="1" dirty="0">
                <a:latin typeface="Times New Roman" panose="02020603050405020304" pitchFamily="18" charset="0"/>
                <a:cs typeface="Times New Roman" panose="02020603050405020304" pitchFamily="18" charset="0"/>
              </a:rPr>
              <a:t>           </a:t>
            </a:r>
            <a:r>
              <a:rPr lang="en-IN" sz="3400" dirty="0">
                <a:latin typeface="Times New Roman" panose="02020603050405020304" pitchFamily="18" charset="0"/>
                <a:cs typeface="Times New Roman" panose="02020603050405020304" pitchFamily="18" charset="0"/>
              </a:rPr>
              <a:t>2.If less ,than raise the boom to the target height.</a:t>
            </a:r>
          </a:p>
          <a:p>
            <a:pPr marL="0" indent="0" algn="just">
              <a:buNone/>
            </a:pPr>
            <a:r>
              <a:rPr lang="en-IN" sz="3400" dirty="0">
                <a:latin typeface="Times New Roman" panose="02020603050405020304" pitchFamily="18" charset="0"/>
                <a:cs typeface="Times New Roman" panose="02020603050405020304" pitchFamily="18" charset="0"/>
              </a:rPr>
              <a:t>Step5:</a:t>
            </a:r>
            <a:r>
              <a:rPr lang="en-US" sz="3400" dirty="0">
                <a:latin typeface="Times New Roman" panose="02020603050405020304" pitchFamily="18" charset="0"/>
                <a:cs typeface="Times New Roman" panose="02020603050405020304" pitchFamily="18" charset="0"/>
              </a:rPr>
              <a:t>Continue to loop, measuring and adjusting the height periodically to maintain the desired height.</a:t>
            </a:r>
          </a:p>
          <a:p>
            <a:pPr marL="0" indent="0" algn="just">
              <a:buNone/>
            </a:pPr>
            <a:r>
              <a:rPr lang="en-IN" sz="3400" dirty="0">
                <a:latin typeface="Times New Roman" panose="02020603050405020304" pitchFamily="18" charset="0"/>
                <a:cs typeface="Times New Roman" panose="02020603050405020304" pitchFamily="18" charset="0"/>
              </a:rPr>
              <a:t>Step6:</a:t>
            </a:r>
            <a:r>
              <a:rPr lang="en-US" sz="3400" dirty="0">
                <a:latin typeface="Times New Roman" panose="02020603050405020304" pitchFamily="18" charset="0"/>
                <a:cs typeface="Times New Roman" panose="02020603050405020304" pitchFamily="18" charset="0"/>
              </a:rPr>
              <a:t>Display the current boom height and status on the UART interface.</a:t>
            </a:r>
          </a:p>
          <a:p>
            <a:pPr marL="0" indent="0" algn="just">
              <a:buNone/>
            </a:pPr>
            <a:r>
              <a:rPr lang="en-IN" sz="3400" dirty="0">
                <a:latin typeface="Times New Roman" panose="02020603050405020304" pitchFamily="18" charset="0"/>
                <a:cs typeface="Times New Roman" panose="02020603050405020304" pitchFamily="18" charset="0"/>
              </a:rPr>
              <a:t>Step7:End.</a:t>
            </a:r>
          </a:p>
          <a:p>
            <a:pPr marL="0" indent="0" algn="just">
              <a:buNone/>
            </a:pPr>
            <a:r>
              <a:rPr lang="en-IN" sz="3200" b="1" dirty="0"/>
              <a:t> </a:t>
            </a:r>
          </a:p>
        </p:txBody>
      </p:sp>
      <p:pic>
        <p:nvPicPr>
          <p:cNvPr id="2" name="Google Shape;211;p3">
            <a:extLst>
              <a:ext uri="{FF2B5EF4-FFF2-40B4-BE49-F238E27FC236}">
                <a16:creationId xmlns:a16="http://schemas.microsoft.com/office/drawing/2014/main" id="{EF02D2A7-8B4A-7D1B-7769-7DDDD64A6F9C}"/>
              </a:ext>
            </a:extLst>
          </p:cNvPr>
          <p:cNvPicPr preferRelativeResize="0"/>
          <p:nvPr/>
        </p:nvPicPr>
        <p:blipFill rotWithShape="1">
          <a:blip r:embed="rId2">
            <a:alphaModFix/>
          </a:blip>
          <a:srcRect l="1673" t="18483" r="2921" b="16827"/>
          <a:stretch/>
        </p:blipFill>
        <p:spPr>
          <a:xfrm>
            <a:off x="9131416" y="113182"/>
            <a:ext cx="2895600" cy="351523"/>
          </a:xfrm>
          <a:prstGeom prst="rect">
            <a:avLst/>
          </a:prstGeom>
          <a:noFill/>
          <a:ln>
            <a:noFill/>
          </a:ln>
        </p:spPr>
      </p:pic>
    </p:spTree>
    <p:extLst>
      <p:ext uri="{BB962C8B-B14F-4D97-AF65-F5344CB8AC3E}">
        <p14:creationId xmlns:p14="http://schemas.microsoft.com/office/powerpoint/2010/main" val="561294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2600587" y="580102"/>
            <a:ext cx="9303391" cy="6277897"/>
          </a:xfrm>
        </p:spPr>
        <p:txBody>
          <a:bodyPr>
            <a:normAutofit/>
          </a:bodyPr>
          <a:lstStyle/>
          <a:p>
            <a:pPr>
              <a:buFont typeface="Wingdings" panose="05000000000000000000" pitchFamily="2" charset="2"/>
              <a:buChar char="v"/>
            </a:pPr>
            <a:r>
              <a:rPr lang="en-IN" sz="3200" b="1" dirty="0"/>
              <a:t>Interfacing Diagram</a:t>
            </a:r>
          </a:p>
        </p:txBody>
      </p:sp>
      <p:pic>
        <p:nvPicPr>
          <p:cNvPr id="5" name="Google Shape;211;p3">
            <a:extLst>
              <a:ext uri="{FF2B5EF4-FFF2-40B4-BE49-F238E27FC236}">
                <a16:creationId xmlns:a16="http://schemas.microsoft.com/office/drawing/2014/main" id="{2E1980FB-F8B4-861A-2B0A-58642CC9EBBA}"/>
              </a:ext>
            </a:extLst>
          </p:cNvPr>
          <p:cNvPicPr preferRelativeResize="0"/>
          <p:nvPr/>
        </p:nvPicPr>
        <p:blipFill rotWithShape="1">
          <a:blip r:embed="rId2">
            <a:alphaModFix/>
          </a:blip>
          <a:srcRect l="1673" t="18483" r="2921" b="16827"/>
          <a:stretch/>
        </p:blipFill>
        <p:spPr>
          <a:xfrm>
            <a:off x="9277525" y="0"/>
            <a:ext cx="2895600" cy="351523"/>
          </a:xfrm>
          <a:prstGeom prst="rect">
            <a:avLst/>
          </a:prstGeom>
          <a:noFill/>
          <a:ln>
            <a:noFill/>
          </a:ln>
        </p:spPr>
      </p:pic>
      <p:pic>
        <p:nvPicPr>
          <p:cNvPr id="6" name="Picture 5">
            <a:extLst>
              <a:ext uri="{FF2B5EF4-FFF2-40B4-BE49-F238E27FC236}">
                <a16:creationId xmlns:a16="http://schemas.microsoft.com/office/drawing/2014/main" id="{59E06E28-E169-F97E-0447-D82DF9C2AE06}"/>
              </a:ext>
            </a:extLst>
          </p:cNvPr>
          <p:cNvPicPr>
            <a:picLocks noChangeAspect="1"/>
          </p:cNvPicPr>
          <p:nvPr/>
        </p:nvPicPr>
        <p:blipFill>
          <a:blip r:embed="rId3"/>
          <a:stretch>
            <a:fillRect/>
          </a:stretch>
        </p:blipFill>
        <p:spPr>
          <a:xfrm>
            <a:off x="2826580" y="1314643"/>
            <a:ext cx="6119390" cy="5235394"/>
          </a:xfrm>
          <a:prstGeom prst="rect">
            <a:avLst/>
          </a:prstGeom>
        </p:spPr>
      </p:pic>
    </p:spTree>
    <p:extLst>
      <p:ext uri="{BB962C8B-B14F-4D97-AF65-F5344CB8AC3E}">
        <p14:creationId xmlns:p14="http://schemas.microsoft.com/office/powerpoint/2010/main" val="295924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3C53B-3884-0F2B-C404-81689F77B6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ABDAF3-7C02-33CF-E6C9-A568E7CE02AB}"/>
              </a:ext>
            </a:extLst>
          </p:cNvPr>
          <p:cNvSpPr>
            <a:spLocks noGrp="1"/>
          </p:cNvSpPr>
          <p:nvPr>
            <p:ph idx="1"/>
          </p:nvPr>
        </p:nvSpPr>
        <p:spPr>
          <a:xfrm>
            <a:off x="2600587" y="580102"/>
            <a:ext cx="9303391" cy="6277897"/>
          </a:xfrm>
        </p:spPr>
        <p:txBody>
          <a:bodyPr>
            <a:normAutofit/>
          </a:bodyPr>
          <a:lstStyle/>
          <a:p>
            <a:pPr>
              <a:buFont typeface="Wingdings" panose="05000000000000000000" pitchFamily="2" charset="2"/>
              <a:buChar char="v"/>
            </a:pPr>
            <a:r>
              <a:rPr lang="en-US" sz="3200" b="1" dirty="0"/>
              <a:t>Hardware components specifications:</a:t>
            </a:r>
          </a:p>
          <a:p>
            <a:pPr marL="0" indent="0">
              <a:buNone/>
            </a:pPr>
            <a:endParaRPr lang="en-IN" sz="3200" b="1" dirty="0"/>
          </a:p>
        </p:txBody>
      </p:sp>
      <p:pic>
        <p:nvPicPr>
          <p:cNvPr id="5" name="Google Shape;211;p3">
            <a:extLst>
              <a:ext uri="{FF2B5EF4-FFF2-40B4-BE49-F238E27FC236}">
                <a16:creationId xmlns:a16="http://schemas.microsoft.com/office/drawing/2014/main" id="{68BF237D-13F4-F791-3012-1BFAAF8D6CBB}"/>
              </a:ext>
            </a:extLst>
          </p:cNvPr>
          <p:cNvPicPr preferRelativeResize="0"/>
          <p:nvPr/>
        </p:nvPicPr>
        <p:blipFill rotWithShape="1">
          <a:blip r:embed="rId2">
            <a:alphaModFix/>
          </a:blip>
          <a:srcRect l="1673" t="18483" r="2921" b="16827"/>
          <a:stretch/>
        </p:blipFill>
        <p:spPr>
          <a:xfrm>
            <a:off x="9277525" y="0"/>
            <a:ext cx="2895600" cy="351523"/>
          </a:xfrm>
          <a:prstGeom prst="rect">
            <a:avLst/>
          </a:prstGeom>
          <a:noFill/>
          <a:ln>
            <a:noFill/>
          </a:ln>
        </p:spPr>
      </p:pic>
      <p:sp>
        <p:nvSpPr>
          <p:cNvPr id="4" name="TextBox 3">
            <a:extLst>
              <a:ext uri="{FF2B5EF4-FFF2-40B4-BE49-F238E27FC236}">
                <a16:creationId xmlns:a16="http://schemas.microsoft.com/office/drawing/2014/main" id="{1B560B5E-60F3-A0D6-4D78-09F2D0DA6A52}"/>
              </a:ext>
            </a:extLst>
          </p:cNvPr>
          <p:cNvSpPr txBox="1"/>
          <p:nvPr/>
        </p:nvSpPr>
        <p:spPr>
          <a:xfrm>
            <a:off x="2896298" y="1505391"/>
            <a:ext cx="7279547" cy="1477328"/>
          </a:xfrm>
          <a:prstGeom prst="rect">
            <a:avLst/>
          </a:prstGeom>
          <a:noFill/>
        </p:spPr>
        <p:txBody>
          <a:bodyPr wrap="square">
            <a:spAutoFit/>
          </a:bodyPr>
          <a:lstStyle/>
          <a:p>
            <a:r>
              <a:rPr lang="en-IN" dirty="0"/>
              <a:t>Ultrasonic sensor:</a:t>
            </a:r>
          </a:p>
          <a:p>
            <a:r>
              <a:rPr lang="en-IN" dirty="0"/>
              <a:t>Power Supply: DC 5VWorking Current: 15mAWorking Frequency: 40HzRanging Distance : 2cm – 400cm/4mResolution : 0.3 cmMeasuring Angle: 15 degreeTrigger Input Pulse width: 10uSDimension: 45mm x 20mm x 15mm</a:t>
            </a:r>
          </a:p>
        </p:txBody>
      </p:sp>
      <p:sp>
        <p:nvSpPr>
          <p:cNvPr id="8" name="TextBox 7">
            <a:extLst>
              <a:ext uri="{FF2B5EF4-FFF2-40B4-BE49-F238E27FC236}">
                <a16:creationId xmlns:a16="http://schemas.microsoft.com/office/drawing/2014/main" id="{1791499D-6585-27DE-5FA1-60B35BDE90DB}"/>
              </a:ext>
            </a:extLst>
          </p:cNvPr>
          <p:cNvSpPr txBox="1"/>
          <p:nvPr/>
        </p:nvSpPr>
        <p:spPr>
          <a:xfrm>
            <a:off x="2971800" y="3726177"/>
            <a:ext cx="6094602" cy="1200329"/>
          </a:xfrm>
          <a:prstGeom prst="rect">
            <a:avLst/>
          </a:prstGeom>
          <a:noFill/>
        </p:spPr>
        <p:txBody>
          <a:bodyPr wrap="square">
            <a:spAutoFit/>
          </a:bodyPr>
          <a:lstStyle/>
          <a:p>
            <a:r>
              <a:rPr lang="en-IN" dirty="0"/>
              <a:t>Servo Motor</a:t>
            </a:r>
          </a:p>
          <a:p>
            <a:r>
              <a:rPr lang="en-IN" dirty="0"/>
              <a:t>Operating Voltage is +5V typicallyTorque: 2.5kg/cmOperating speed is 0.1s/60°Gear Type: PlasticRotation : 0°-180°Weight of motor : 9gm</a:t>
            </a:r>
          </a:p>
        </p:txBody>
      </p:sp>
    </p:spTree>
    <p:extLst>
      <p:ext uri="{BB962C8B-B14F-4D97-AF65-F5344CB8AC3E}">
        <p14:creationId xmlns:p14="http://schemas.microsoft.com/office/powerpoint/2010/main" val="2768775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2443271" y="422785"/>
            <a:ext cx="9303391" cy="6277897"/>
          </a:xfrm>
        </p:spPr>
        <p:txBody>
          <a:bodyPr>
            <a:normAutofit fontScale="85000" lnSpcReduction="20000"/>
          </a:bodyPr>
          <a:lstStyle/>
          <a:p>
            <a:pPr>
              <a:buFont typeface="Wingdings" panose="05000000000000000000" pitchFamily="2" charset="2"/>
              <a:buChar char="v"/>
            </a:pPr>
            <a:r>
              <a:rPr lang="en-IN" sz="3200" b="1" dirty="0"/>
              <a:t>RTOS Objects and Justification</a:t>
            </a:r>
          </a:p>
          <a:p>
            <a:r>
              <a:rPr lang="en-US" sz="2800" dirty="0">
                <a:latin typeface="Times New Roman" panose="02020603050405020304" pitchFamily="18" charset="0"/>
                <a:cs typeface="Times New Roman" panose="02020603050405020304" pitchFamily="18" charset="0"/>
              </a:rPr>
              <a:t>Task Management: The RTOS schedules the task1 to continuously measure the distance using the ultrasonic sensor, compare it with a target height, and control the servo motor and UART communication accordingly.</a:t>
            </a:r>
          </a:p>
          <a:p>
            <a:r>
              <a:rPr lang="en-US" sz="2800" dirty="0">
                <a:latin typeface="Times New Roman" panose="02020603050405020304" pitchFamily="18" charset="0"/>
                <a:cs typeface="Times New Roman" panose="02020603050405020304" pitchFamily="18" charset="0"/>
              </a:rPr>
              <a:t>Timers and Time Management: Timers are used to measure the ultrasonic sensor's echo response and provide precise delays for motor control and communication.</a:t>
            </a:r>
          </a:p>
          <a:p>
            <a:r>
              <a:rPr lang="en-US" sz="2800" dirty="0">
                <a:latin typeface="Times New Roman" panose="02020603050405020304" pitchFamily="18" charset="0"/>
                <a:cs typeface="Times New Roman" panose="02020603050405020304" pitchFamily="18" charset="0"/>
              </a:rPr>
              <a:t>UART Communication: The system sends data (servo status, measured distance) through UART without blocking other tasks, ensuring smooth communication.</a:t>
            </a:r>
          </a:p>
          <a:p>
            <a:r>
              <a:rPr lang="en-US" sz="2800" dirty="0">
                <a:latin typeface="Times New Roman" panose="02020603050405020304" pitchFamily="18" charset="0"/>
                <a:cs typeface="Times New Roman" panose="02020603050405020304" pitchFamily="18" charset="0"/>
              </a:rPr>
              <a:t>Real-Time Control and Response: RTOS ensures quick response to distance changes by controlling the servo motor in real time based on sensor input.</a:t>
            </a:r>
          </a:p>
          <a:p>
            <a:r>
              <a:rPr lang="en-US" sz="2800" dirty="0">
                <a:latin typeface="Times New Roman" panose="02020603050405020304" pitchFamily="18" charset="0"/>
                <a:cs typeface="Times New Roman" panose="02020603050405020304" pitchFamily="18" charset="0"/>
              </a:rPr>
              <a:t>System Initialization: RTOS efficiently handles the initialization of hardware peripherals like the ultrasonic sensor, servo motor, and UART before task execution.</a:t>
            </a:r>
            <a:endParaRPr lang="en-IN" sz="2800" dirty="0">
              <a:latin typeface="Times New Roman" panose="02020603050405020304" pitchFamily="18" charset="0"/>
              <a:cs typeface="Times New Roman" panose="02020603050405020304" pitchFamily="18" charset="0"/>
            </a:endParaRPr>
          </a:p>
        </p:txBody>
      </p:sp>
      <p:pic>
        <p:nvPicPr>
          <p:cNvPr id="2" name="Google Shape;211;p3">
            <a:extLst>
              <a:ext uri="{FF2B5EF4-FFF2-40B4-BE49-F238E27FC236}">
                <a16:creationId xmlns:a16="http://schemas.microsoft.com/office/drawing/2014/main" id="{0F2DD053-F82C-547B-AD06-A38B0FCFDBAE}"/>
              </a:ext>
            </a:extLst>
          </p:cNvPr>
          <p:cNvPicPr preferRelativeResize="0"/>
          <p:nvPr/>
        </p:nvPicPr>
        <p:blipFill rotWithShape="1">
          <a:blip r:embed="rId2">
            <a:alphaModFix/>
          </a:blip>
          <a:srcRect l="1673" t="18483" r="2921" b="16827"/>
          <a:stretch/>
        </p:blipFill>
        <p:spPr>
          <a:xfrm>
            <a:off x="9296400" y="-2073"/>
            <a:ext cx="2895600" cy="351523"/>
          </a:xfrm>
          <a:prstGeom prst="rect">
            <a:avLst/>
          </a:prstGeom>
          <a:noFill/>
          <a:ln>
            <a:noFill/>
          </a:ln>
        </p:spPr>
      </p:pic>
    </p:spTree>
    <p:extLst>
      <p:ext uri="{BB962C8B-B14F-4D97-AF65-F5344CB8AC3E}">
        <p14:creationId xmlns:p14="http://schemas.microsoft.com/office/powerpoint/2010/main" val="3382330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2600587" y="580102"/>
            <a:ext cx="9303391" cy="6277897"/>
          </a:xfrm>
        </p:spPr>
        <p:txBody>
          <a:bodyPr>
            <a:normAutofit/>
          </a:bodyPr>
          <a:lstStyle/>
          <a:p>
            <a:pPr>
              <a:buFont typeface="Wingdings" panose="05000000000000000000" pitchFamily="2" charset="2"/>
              <a:buChar char="v"/>
            </a:pPr>
            <a:r>
              <a:rPr lang="en-IN" sz="3200" b="1" dirty="0"/>
              <a:t>Code</a:t>
            </a:r>
          </a:p>
          <a:p>
            <a:pPr marL="0" indent="0">
              <a:buNone/>
            </a:pPr>
            <a:endParaRPr lang="en-IN" sz="3200" b="1" dirty="0"/>
          </a:p>
        </p:txBody>
      </p:sp>
      <p:pic>
        <p:nvPicPr>
          <p:cNvPr id="2" name="Google Shape;211;p3">
            <a:extLst>
              <a:ext uri="{FF2B5EF4-FFF2-40B4-BE49-F238E27FC236}">
                <a16:creationId xmlns:a16="http://schemas.microsoft.com/office/drawing/2014/main" id="{161A6905-2C5A-A012-E327-4FBB52906D79}"/>
              </a:ext>
            </a:extLst>
          </p:cNvPr>
          <p:cNvPicPr preferRelativeResize="0"/>
          <p:nvPr/>
        </p:nvPicPr>
        <p:blipFill rotWithShape="1">
          <a:blip r:embed="rId2">
            <a:alphaModFix/>
          </a:blip>
          <a:srcRect l="1673" t="18483" r="2921" b="16827"/>
          <a:stretch/>
        </p:blipFill>
        <p:spPr>
          <a:xfrm>
            <a:off x="9296400" y="0"/>
            <a:ext cx="2895600" cy="351523"/>
          </a:xfrm>
          <a:prstGeom prst="rect">
            <a:avLst/>
          </a:prstGeom>
          <a:noFill/>
          <a:ln>
            <a:noFill/>
          </a:ln>
        </p:spPr>
      </p:pic>
      <p:pic>
        <p:nvPicPr>
          <p:cNvPr id="6" name="Picture 5">
            <a:extLst>
              <a:ext uri="{FF2B5EF4-FFF2-40B4-BE49-F238E27FC236}">
                <a16:creationId xmlns:a16="http://schemas.microsoft.com/office/drawing/2014/main" id="{DC225B55-22C6-B089-7B4F-1BDA58C72522}"/>
              </a:ext>
            </a:extLst>
          </p:cNvPr>
          <p:cNvPicPr>
            <a:picLocks noChangeAspect="1"/>
          </p:cNvPicPr>
          <p:nvPr/>
        </p:nvPicPr>
        <p:blipFill>
          <a:blip r:embed="rId3"/>
          <a:stretch>
            <a:fillRect/>
          </a:stretch>
        </p:blipFill>
        <p:spPr>
          <a:xfrm>
            <a:off x="2600587" y="1393217"/>
            <a:ext cx="7750212" cy="5296359"/>
          </a:xfrm>
          <a:prstGeom prst="rect">
            <a:avLst/>
          </a:prstGeom>
        </p:spPr>
      </p:pic>
    </p:spTree>
    <p:extLst>
      <p:ext uri="{BB962C8B-B14F-4D97-AF65-F5344CB8AC3E}">
        <p14:creationId xmlns:p14="http://schemas.microsoft.com/office/powerpoint/2010/main" val="68578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oogle Shape;211;p3">
            <a:extLst>
              <a:ext uri="{FF2B5EF4-FFF2-40B4-BE49-F238E27FC236}">
                <a16:creationId xmlns:a16="http://schemas.microsoft.com/office/drawing/2014/main" id="{79A2EA65-0B39-55D6-2CAE-ECB897961539}"/>
              </a:ext>
            </a:extLst>
          </p:cNvPr>
          <p:cNvPicPr preferRelativeResize="0"/>
          <p:nvPr/>
        </p:nvPicPr>
        <p:blipFill rotWithShape="1">
          <a:blip r:embed="rId2">
            <a:alphaModFix/>
          </a:blip>
          <a:srcRect l="1673" t="18483" r="2921" b="16827"/>
          <a:stretch/>
        </p:blipFill>
        <p:spPr>
          <a:xfrm>
            <a:off x="9296400" y="0"/>
            <a:ext cx="2895600" cy="351523"/>
          </a:xfrm>
          <a:prstGeom prst="rect">
            <a:avLst/>
          </a:prstGeom>
          <a:noFill/>
          <a:ln>
            <a:noFill/>
          </a:ln>
        </p:spPr>
      </p:pic>
      <p:pic>
        <p:nvPicPr>
          <p:cNvPr id="3" name="Picture 2">
            <a:extLst>
              <a:ext uri="{FF2B5EF4-FFF2-40B4-BE49-F238E27FC236}">
                <a16:creationId xmlns:a16="http://schemas.microsoft.com/office/drawing/2014/main" id="{AAF12D19-286E-37C7-81D8-7DB55781FA00}"/>
              </a:ext>
            </a:extLst>
          </p:cNvPr>
          <p:cNvPicPr>
            <a:picLocks noChangeAspect="1"/>
          </p:cNvPicPr>
          <p:nvPr/>
        </p:nvPicPr>
        <p:blipFill>
          <a:blip r:embed="rId3"/>
          <a:stretch>
            <a:fillRect/>
          </a:stretch>
        </p:blipFill>
        <p:spPr>
          <a:xfrm>
            <a:off x="2300508" y="1175103"/>
            <a:ext cx="8443692" cy="5296359"/>
          </a:xfrm>
          <a:prstGeom prst="rect">
            <a:avLst/>
          </a:prstGeom>
        </p:spPr>
      </p:pic>
    </p:spTree>
    <p:extLst>
      <p:ext uri="{BB962C8B-B14F-4D97-AF65-F5344CB8AC3E}">
        <p14:creationId xmlns:p14="http://schemas.microsoft.com/office/powerpoint/2010/main" val="1281387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2600587" y="580102"/>
            <a:ext cx="9303391" cy="6277897"/>
          </a:xfrm>
        </p:spPr>
        <p:txBody>
          <a:bodyPr>
            <a:normAutofit/>
          </a:bodyPr>
          <a:lstStyle/>
          <a:p>
            <a:pPr marL="0" indent="0">
              <a:buNone/>
            </a:pPr>
            <a:endParaRPr lang="en-IN" sz="3200" b="1" dirty="0"/>
          </a:p>
          <a:p>
            <a:pPr marL="0" indent="0">
              <a:buNone/>
            </a:pPr>
            <a:endParaRPr lang="en-IN" sz="3200" b="1" dirty="0"/>
          </a:p>
        </p:txBody>
      </p:sp>
      <p:pic>
        <p:nvPicPr>
          <p:cNvPr id="2" name="Google Shape;211;p3">
            <a:extLst>
              <a:ext uri="{FF2B5EF4-FFF2-40B4-BE49-F238E27FC236}">
                <a16:creationId xmlns:a16="http://schemas.microsoft.com/office/drawing/2014/main" id="{E6E37F55-F10F-F061-9542-D856500FDF58}"/>
              </a:ext>
            </a:extLst>
          </p:cNvPr>
          <p:cNvPicPr preferRelativeResize="0"/>
          <p:nvPr/>
        </p:nvPicPr>
        <p:blipFill rotWithShape="1">
          <a:blip r:embed="rId2">
            <a:alphaModFix/>
          </a:blip>
          <a:srcRect l="1673" t="18483" r="2921" b="16827"/>
          <a:stretch/>
        </p:blipFill>
        <p:spPr>
          <a:xfrm>
            <a:off x="9296400" y="0"/>
            <a:ext cx="2895600" cy="351523"/>
          </a:xfrm>
          <a:prstGeom prst="rect">
            <a:avLst/>
          </a:prstGeom>
          <a:noFill/>
          <a:ln>
            <a:noFill/>
          </a:ln>
        </p:spPr>
      </p:pic>
      <p:pic>
        <p:nvPicPr>
          <p:cNvPr id="6" name="Picture 5">
            <a:extLst>
              <a:ext uri="{FF2B5EF4-FFF2-40B4-BE49-F238E27FC236}">
                <a16:creationId xmlns:a16="http://schemas.microsoft.com/office/drawing/2014/main" id="{B247011B-C3F6-FA38-6334-1A97D1E49C3A}"/>
              </a:ext>
            </a:extLst>
          </p:cNvPr>
          <p:cNvPicPr>
            <a:picLocks noChangeAspect="1"/>
          </p:cNvPicPr>
          <p:nvPr/>
        </p:nvPicPr>
        <p:blipFill>
          <a:blip r:embed="rId3"/>
          <a:stretch>
            <a:fillRect/>
          </a:stretch>
        </p:blipFill>
        <p:spPr>
          <a:xfrm>
            <a:off x="2533341" y="845596"/>
            <a:ext cx="8061954" cy="5166808"/>
          </a:xfrm>
          <a:prstGeom prst="rect">
            <a:avLst/>
          </a:prstGeom>
        </p:spPr>
      </p:pic>
    </p:spTree>
    <p:extLst>
      <p:ext uri="{BB962C8B-B14F-4D97-AF65-F5344CB8AC3E}">
        <p14:creationId xmlns:p14="http://schemas.microsoft.com/office/powerpoint/2010/main" val="4128727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11;p3">
            <a:extLst>
              <a:ext uri="{FF2B5EF4-FFF2-40B4-BE49-F238E27FC236}">
                <a16:creationId xmlns:a16="http://schemas.microsoft.com/office/drawing/2014/main" id="{AA2F4269-6943-FC2D-B265-F44E49CED39E}"/>
              </a:ext>
            </a:extLst>
          </p:cNvPr>
          <p:cNvPicPr preferRelativeResize="0"/>
          <p:nvPr/>
        </p:nvPicPr>
        <p:blipFill rotWithShape="1">
          <a:blip r:embed="rId2">
            <a:alphaModFix/>
          </a:blip>
          <a:srcRect l="1673" t="18483" r="2921" b="16827"/>
          <a:stretch/>
        </p:blipFill>
        <p:spPr>
          <a:xfrm>
            <a:off x="9296400" y="29949"/>
            <a:ext cx="2895600" cy="351523"/>
          </a:xfrm>
          <a:prstGeom prst="rect">
            <a:avLst/>
          </a:prstGeom>
          <a:noFill/>
          <a:ln>
            <a:noFill/>
          </a:ln>
        </p:spPr>
      </p:pic>
      <p:pic>
        <p:nvPicPr>
          <p:cNvPr id="7" name="Picture 6">
            <a:extLst>
              <a:ext uri="{FF2B5EF4-FFF2-40B4-BE49-F238E27FC236}">
                <a16:creationId xmlns:a16="http://schemas.microsoft.com/office/drawing/2014/main" id="{8F04A60C-2268-2E68-1FD3-6B2C9D928375}"/>
              </a:ext>
            </a:extLst>
          </p:cNvPr>
          <p:cNvPicPr>
            <a:picLocks noChangeAspect="1"/>
          </p:cNvPicPr>
          <p:nvPr/>
        </p:nvPicPr>
        <p:blipFill>
          <a:blip r:embed="rId3"/>
          <a:stretch>
            <a:fillRect/>
          </a:stretch>
        </p:blipFill>
        <p:spPr>
          <a:xfrm>
            <a:off x="2685754" y="792251"/>
            <a:ext cx="8429659" cy="5273497"/>
          </a:xfrm>
          <a:prstGeom prst="rect">
            <a:avLst/>
          </a:prstGeom>
        </p:spPr>
      </p:pic>
    </p:spTree>
    <p:extLst>
      <p:ext uri="{BB962C8B-B14F-4D97-AF65-F5344CB8AC3E}">
        <p14:creationId xmlns:p14="http://schemas.microsoft.com/office/powerpoint/2010/main" val="3460669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11;p3">
            <a:extLst>
              <a:ext uri="{FF2B5EF4-FFF2-40B4-BE49-F238E27FC236}">
                <a16:creationId xmlns:a16="http://schemas.microsoft.com/office/drawing/2014/main" id="{DF115449-AD9E-E1CB-B291-DE33CF5B9B85}"/>
              </a:ext>
            </a:extLst>
          </p:cNvPr>
          <p:cNvPicPr preferRelativeResize="0"/>
          <p:nvPr/>
        </p:nvPicPr>
        <p:blipFill rotWithShape="1">
          <a:blip r:embed="rId2">
            <a:alphaModFix/>
          </a:blip>
          <a:srcRect l="1673" t="18483" r="2921" b="16827"/>
          <a:stretch/>
        </p:blipFill>
        <p:spPr>
          <a:xfrm>
            <a:off x="9296400" y="0"/>
            <a:ext cx="2895600" cy="351523"/>
          </a:xfrm>
          <a:prstGeom prst="rect">
            <a:avLst/>
          </a:prstGeom>
          <a:noFill/>
          <a:ln>
            <a:noFill/>
          </a:ln>
        </p:spPr>
      </p:pic>
      <p:pic>
        <p:nvPicPr>
          <p:cNvPr id="7" name="Picture 6">
            <a:extLst>
              <a:ext uri="{FF2B5EF4-FFF2-40B4-BE49-F238E27FC236}">
                <a16:creationId xmlns:a16="http://schemas.microsoft.com/office/drawing/2014/main" id="{C5D13786-160B-AA82-A8E7-FD811ED26F9B}"/>
              </a:ext>
            </a:extLst>
          </p:cNvPr>
          <p:cNvPicPr>
            <a:picLocks noChangeAspect="1"/>
          </p:cNvPicPr>
          <p:nvPr/>
        </p:nvPicPr>
        <p:blipFill>
          <a:blip r:embed="rId3"/>
          <a:stretch>
            <a:fillRect/>
          </a:stretch>
        </p:blipFill>
        <p:spPr>
          <a:xfrm>
            <a:off x="2891512" y="780820"/>
            <a:ext cx="8181956" cy="5296359"/>
          </a:xfrm>
          <a:prstGeom prst="rect">
            <a:avLst/>
          </a:prstGeom>
        </p:spPr>
      </p:pic>
    </p:spTree>
    <p:extLst>
      <p:ext uri="{BB962C8B-B14F-4D97-AF65-F5344CB8AC3E}">
        <p14:creationId xmlns:p14="http://schemas.microsoft.com/office/powerpoint/2010/main" val="3617897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6038A-E937-F1E6-1C73-B3A38BD96310}"/>
            </a:ext>
          </a:extLst>
        </p:cNvPr>
        <p:cNvGrpSpPr/>
        <p:nvPr/>
      </p:nvGrpSpPr>
      <p:grpSpPr>
        <a:xfrm>
          <a:off x="0" y="0"/>
          <a:ext cx="0" cy="0"/>
          <a:chOff x="0" y="0"/>
          <a:chExt cx="0" cy="0"/>
        </a:xfrm>
      </p:grpSpPr>
      <p:pic>
        <p:nvPicPr>
          <p:cNvPr id="2" name="Google Shape;211;p3">
            <a:extLst>
              <a:ext uri="{FF2B5EF4-FFF2-40B4-BE49-F238E27FC236}">
                <a16:creationId xmlns:a16="http://schemas.microsoft.com/office/drawing/2014/main" id="{41128809-5687-B8E0-3AD1-5BFCBC1B4247}"/>
              </a:ext>
            </a:extLst>
          </p:cNvPr>
          <p:cNvPicPr preferRelativeResize="0"/>
          <p:nvPr/>
        </p:nvPicPr>
        <p:blipFill rotWithShape="1">
          <a:blip r:embed="rId2">
            <a:alphaModFix/>
          </a:blip>
          <a:srcRect l="1673" t="18483" r="2921" b="16827"/>
          <a:stretch/>
        </p:blipFill>
        <p:spPr>
          <a:xfrm>
            <a:off x="9296400" y="0"/>
            <a:ext cx="2895600" cy="351523"/>
          </a:xfrm>
          <a:prstGeom prst="rect">
            <a:avLst/>
          </a:prstGeom>
          <a:noFill/>
          <a:ln>
            <a:noFill/>
          </a:ln>
        </p:spPr>
      </p:pic>
      <p:pic>
        <p:nvPicPr>
          <p:cNvPr id="4" name="Picture 3">
            <a:extLst>
              <a:ext uri="{FF2B5EF4-FFF2-40B4-BE49-F238E27FC236}">
                <a16:creationId xmlns:a16="http://schemas.microsoft.com/office/drawing/2014/main" id="{937B8CC1-9880-90F3-B33E-3BB2EB71C643}"/>
              </a:ext>
            </a:extLst>
          </p:cNvPr>
          <p:cNvPicPr>
            <a:picLocks noChangeAspect="1"/>
          </p:cNvPicPr>
          <p:nvPr/>
        </p:nvPicPr>
        <p:blipFill>
          <a:blip r:embed="rId3"/>
          <a:stretch>
            <a:fillRect/>
          </a:stretch>
        </p:blipFill>
        <p:spPr>
          <a:xfrm>
            <a:off x="2477111" y="796062"/>
            <a:ext cx="8093017" cy="5265876"/>
          </a:xfrm>
          <a:prstGeom prst="rect">
            <a:avLst/>
          </a:prstGeom>
        </p:spPr>
      </p:pic>
    </p:spTree>
    <p:extLst>
      <p:ext uri="{BB962C8B-B14F-4D97-AF65-F5344CB8AC3E}">
        <p14:creationId xmlns:p14="http://schemas.microsoft.com/office/powerpoint/2010/main" val="1094564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2600587" y="580102"/>
            <a:ext cx="9303391" cy="6277897"/>
          </a:xfrm>
        </p:spPr>
        <p:txBody>
          <a:bodyPr>
            <a:normAutofit/>
          </a:bodyPr>
          <a:lstStyle/>
          <a:p>
            <a:pPr>
              <a:buFont typeface="Wingdings" panose="05000000000000000000" pitchFamily="2" charset="2"/>
              <a:buChar char="v"/>
            </a:pPr>
            <a:r>
              <a:rPr lang="en-IN" sz="3200" b="1" dirty="0"/>
              <a:t>Results</a:t>
            </a:r>
          </a:p>
          <a:p>
            <a:pPr marL="0" indent="0">
              <a:buNone/>
            </a:pPr>
            <a:r>
              <a:rPr lang="en-IN" sz="2800" b="1" dirty="0"/>
              <a:t>    Software</a:t>
            </a:r>
            <a:r>
              <a:rPr lang="en-IN" sz="3200" b="1" dirty="0"/>
              <a:t> :</a:t>
            </a:r>
          </a:p>
        </p:txBody>
      </p:sp>
      <p:pic>
        <p:nvPicPr>
          <p:cNvPr id="2" name="Google Shape;211;p3">
            <a:extLst>
              <a:ext uri="{FF2B5EF4-FFF2-40B4-BE49-F238E27FC236}">
                <a16:creationId xmlns:a16="http://schemas.microsoft.com/office/drawing/2014/main" id="{BA1F6F3A-1C03-DE28-7217-AB60B6A0BB6A}"/>
              </a:ext>
            </a:extLst>
          </p:cNvPr>
          <p:cNvPicPr preferRelativeResize="0"/>
          <p:nvPr/>
        </p:nvPicPr>
        <p:blipFill rotWithShape="1">
          <a:blip r:embed="rId2">
            <a:alphaModFix/>
          </a:blip>
          <a:srcRect l="1673" t="18483" r="2921" b="16827"/>
          <a:stretch/>
        </p:blipFill>
        <p:spPr>
          <a:xfrm>
            <a:off x="9296400" y="0"/>
            <a:ext cx="2895600" cy="351523"/>
          </a:xfrm>
          <a:prstGeom prst="rect">
            <a:avLst/>
          </a:prstGeom>
          <a:noFill/>
          <a:ln>
            <a:noFill/>
          </a:ln>
        </p:spPr>
      </p:pic>
      <p:pic>
        <p:nvPicPr>
          <p:cNvPr id="6" name="Picture 5">
            <a:extLst>
              <a:ext uri="{FF2B5EF4-FFF2-40B4-BE49-F238E27FC236}">
                <a16:creationId xmlns:a16="http://schemas.microsoft.com/office/drawing/2014/main" id="{3F26E6B7-AC51-B693-B6C8-20472758F5A9}"/>
              </a:ext>
            </a:extLst>
          </p:cNvPr>
          <p:cNvPicPr>
            <a:picLocks noChangeAspect="1"/>
          </p:cNvPicPr>
          <p:nvPr/>
        </p:nvPicPr>
        <p:blipFill>
          <a:blip r:embed="rId3"/>
          <a:stretch>
            <a:fillRect/>
          </a:stretch>
        </p:blipFill>
        <p:spPr>
          <a:xfrm>
            <a:off x="2600587" y="1801318"/>
            <a:ext cx="6979641" cy="3835463"/>
          </a:xfrm>
          <a:prstGeom prst="rect">
            <a:avLst/>
          </a:prstGeom>
        </p:spPr>
      </p:pic>
      <p:sp>
        <p:nvSpPr>
          <p:cNvPr id="7" name="TextBox 6">
            <a:extLst>
              <a:ext uri="{FF2B5EF4-FFF2-40B4-BE49-F238E27FC236}">
                <a16:creationId xmlns:a16="http://schemas.microsoft.com/office/drawing/2014/main" id="{D4214639-9FA6-DB5D-9C03-6987F5501DBF}"/>
              </a:ext>
            </a:extLst>
          </p:cNvPr>
          <p:cNvSpPr txBox="1"/>
          <p:nvPr/>
        </p:nvSpPr>
        <p:spPr>
          <a:xfrm>
            <a:off x="9800438" y="1801318"/>
            <a:ext cx="2187430" cy="3139321"/>
          </a:xfrm>
          <a:prstGeom prst="rect">
            <a:avLst/>
          </a:prstGeom>
          <a:noFill/>
        </p:spPr>
        <p:txBody>
          <a:bodyPr wrap="square" rtlCol="0">
            <a:spAutoFit/>
          </a:bodyPr>
          <a:lstStyle/>
          <a:p>
            <a:r>
              <a:rPr lang="en-US" dirty="0"/>
              <a:t>The software results specify that Task 1 will control the servo motor, while Tasks 2 and 3 will compare and control the ultrasonic sensor's distance measurements.</a:t>
            </a:r>
            <a:endParaRPr lang="en-IN" dirty="0"/>
          </a:p>
        </p:txBody>
      </p:sp>
    </p:spTree>
    <p:extLst>
      <p:ext uri="{BB962C8B-B14F-4D97-AF65-F5344CB8AC3E}">
        <p14:creationId xmlns:p14="http://schemas.microsoft.com/office/powerpoint/2010/main" val="3617099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D51BE-89F6-36D4-5384-7B18B16C0C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4A0E29-0393-1405-2E29-F7976049C607}"/>
              </a:ext>
            </a:extLst>
          </p:cNvPr>
          <p:cNvSpPr>
            <a:spLocks noGrp="1"/>
          </p:cNvSpPr>
          <p:nvPr>
            <p:ph idx="1"/>
          </p:nvPr>
        </p:nvSpPr>
        <p:spPr>
          <a:xfrm>
            <a:off x="2600587" y="580102"/>
            <a:ext cx="9303391" cy="6277897"/>
          </a:xfrm>
        </p:spPr>
        <p:txBody>
          <a:bodyPr>
            <a:normAutofit/>
          </a:bodyPr>
          <a:lstStyle/>
          <a:p>
            <a:pPr>
              <a:buFont typeface="Wingdings" panose="05000000000000000000" pitchFamily="2" charset="2"/>
              <a:buChar char="v"/>
            </a:pPr>
            <a:r>
              <a:rPr lang="en-IN" sz="3200" b="1" dirty="0"/>
              <a:t>Results</a:t>
            </a:r>
          </a:p>
          <a:p>
            <a:pPr marL="0" indent="0">
              <a:buNone/>
            </a:pPr>
            <a:r>
              <a:rPr lang="en-IN" sz="2800" b="1" dirty="0"/>
              <a:t>Hardware :</a:t>
            </a:r>
          </a:p>
        </p:txBody>
      </p:sp>
      <p:pic>
        <p:nvPicPr>
          <p:cNvPr id="2" name="Google Shape;211;p3">
            <a:extLst>
              <a:ext uri="{FF2B5EF4-FFF2-40B4-BE49-F238E27FC236}">
                <a16:creationId xmlns:a16="http://schemas.microsoft.com/office/drawing/2014/main" id="{B25E679E-8C4E-9B2B-A31F-F47828A93242}"/>
              </a:ext>
            </a:extLst>
          </p:cNvPr>
          <p:cNvPicPr preferRelativeResize="0"/>
          <p:nvPr/>
        </p:nvPicPr>
        <p:blipFill rotWithShape="1">
          <a:blip r:embed="rId4">
            <a:alphaModFix/>
          </a:blip>
          <a:srcRect l="1673" t="18483" r="2921" b="16827"/>
          <a:stretch/>
        </p:blipFill>
        <p:spPr>
          <a:xfrm>
            <a:off x="9296400" y="0"/>
            <a:ext cx="2895600" cy="351523"/>
          </a:xfrm>
          <a:prstGeom prst="rect">
            <a:avLst/>
          </a:prstGeom>
          <a:noFill/>
          <a:ln>
            <a:noFill/>
          </a:ln>
        </p:spPr>
      </p:pic>
      <p:pic>
        <p:nvPicPr>
          <p:cNvPr id="5" name="WhatsApp Video 2025-01-02 at 22.26.08_e1df135e">
            <a:hlinkClick r:id="" action="ppaction://media"/>
            <a:extLst>
              <a:ext uri="{FF2B5EF4-FFF2-40B4-BE49-F238E27FC236}">
                <a16:creationId xmlns:a16="http://schemas.microsoft.com/office/drawing/2014/main" id="{F4D7DA06-307A-CABE-8CFC-E8061629D0D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600588" y="2021747"/>
            <a:ext cx="6990825" cy="3826079"/>
          </a:xfrm>
          <a:prstGeom prst="rect">
            <a:avLst/>
          </a:prstGeom>
        </p:spPr>
      </p:pic>
      <p:sp>
        <p:nvSpPr>
          <p:cNvPr id="4" name="TextBox 3">
            <a:extLst>
              <a:ext uri="{FF2B5EF4-FFF2-40B4-BE49-F238E27FC236}">
                <a16:creationId xmlns:a16="http://schemas.microsoft.com/office/drawing/2014/main" id="{4077A680-6CF8-17D7-F8CC-A77ECABBA103}"/>
              </a:ext>
            </a:extLst>
          </p:cNvPr>
          <p:cNvSpPr txBox="1"/>
          <p:nvPr/>
        </p:nvSpPr>
        <p:spPr>
          <a:xfrm>
            <a:off x="9697673" y="2080470"/>
            <a:ext cx="2206305" cy="2308324"/>
          </a:xfrm>
          <a:prstGeom prst="rect">
            <a:avLst/>
          </a:prstGeom>
          <a:noFill/>
        </p:spPr>
        <p:txBody>
          <a:bodyPr wrap="square" rtlCol="0">
            <a:spAutoFit/>
          </a:bodyPr>
          <a:lstStyle/>
          <a:p>
            <a:r>
              <a:rPr lang="en-US" dirty="0"/>
              <a:t>The results are observed on the hardware and boom height is set according the distance measured by  the ultrasonic sensor.</a:t>
            </a:r>
            <a:endParaRPr lang="en-IN" dirty="0"/>
          </a:p>
        </p:txBody>
      </p:sp>
    </p:spTree>
    <p:extLst>
      <p:ext uri="{BB962C8B-B14F-4D97-AF65-F5344CB8AC3E}">
        <p14:creationId xmlns:p14="http://schemas.microsoft.com/office/powerpoint/2010/main" val="175389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6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39869-ECEB-1075-EC0D-8DDFAAF26087}"/>
              </a:ext>
            </a:extLst>
          </p:cNvPr>
          <p:cNvSpPr>
            <a:spLocks noGrp="1"/>
          </p:cNvSpPr>
          <p:nvPr>
            <p:ph idx="1"/>
          </p:nvPr>
        </p:nvSpPr>
        <p:spPr>
          <a:xfrm>
            <a:off x="2600587" y="580103"/>
            <a:ext cx="9303391" cy="5881658"/>
          </a:xfrm>
        </p:spPr>
        <p:txBody>
          <a:bodyPr>
            <a:normAutofit/>
          </a:bodyPr>
          <a:lstStyle/>
          <a:p>
            <a:pPr marL="0" indent="0">
              <a:buNone/>
            </a:pPr>
            <a:endParaRPr lang="en-IN" sz="3200" b="1" dirty="0"/>
          </a:p>
          <a:p>
            <a:pPr marL="0" indent="0">
              <a:buNone/>
            </a:pPr>
            <a:endParaRPr lang="en-IN" sz="2400" b="1" dirty="0"/>
          </a:p>
        </p:txBody>
      </p:sp>
      <p:sp>
        <p:nvSpPr>
          <p:cNvPr id="2" name="TextBox 1">
            <a:extLst>
              <a:ext uri="{FF2B5EF4-FFF2-40B4-BE49-F238E27FC236}">
                <a16:creationId xmlns:a16="http://schemas.microsoft.com/office/drawing/2014/main" id="{AC4690B9-1FEA-342C-A72E-1DFBEE34B38C}"/>
              </a:ext>
            </a:extLst>
          </p:cNvPr>
          <p:cNvSpPr txBox="1"/>
          <p:nvPr/>
        </p:nvSpPr>
        <p:spPr>
          <a:xfrm>
            <a:off x="3129280" y="2397760"/>
            <a:ext cx="6593840" cy="1015663"/>
          </a:xfrm>
          <a:prstGeom prst="rect">
            <a:avLst/>
          </a:prstGeom>
          <a:noFill/>
        </p:spPr>
        <p:txBody>
          <a:bodyPr wrap="square" rtlCol="0">
            <a:spAutoFit/>
          </a:bodyPr>
          <a:lstStyle/>
          <a:p>
            <a:pPr algn="ctr"/>
            <a:r>
              <a:rPr lang="en-IN" sz="6000" b="1" dirty="0">
                <a:solidFill>
                  <a:schemeClr val="accent1"/>
                </a:solidFill>
              </a:rPr>
              <a:t>Thank You</a:t>
            </a:r>
          </a:p>
        </p:txBody>
      </p:sp>
      <p:pic>
        <p:nvPicPr>
          <p:cNvPr id="4" name="Google Shape;211;p3">
            <a:extLst>
              <a:ext uri="{FF2B5EF4-FFF2-40B4-BE49-F238E27FC236}">
                <a16:creationId xmlns:a16="http://schemas.microsoft.com/office/drawing/2014/main" id="{DFDF8F16-A5C2-9E1D-0FD0-47902D9C33EA}"/>
              </a:ext>
            </a:extLst>
          </p:cNvPr>
          <p:cNvPicPr preferRelativeResize="0"/>
          <p:nvPr/>
        </p:nvPicPr>
        <p:blipFill rotWithShape="1">
          <a:blip r:embed="rId2">
            <a:alphaModFix/>
          </a:blip>
          <a:srcRect l="1673" t="18483" r="2921" b="16827"/>
          <a:stretch/>
        </p:blipFill>
        <p:spPr>
          <a:xfrm>
            <a:off x="9296400" y="0"/>
            <a:ext cx="2895600" cy="351523"/>
          </a:xfrm>
          <a:prstGeom prst="rect">
            <a:avLst/>
          </a:prstGeom>
          <a:noFill/>
          <a:ln>
            <a:noFill/>
          </a:ln>
        </p:spPr>
      </p:pic>
    </p:spTree>
    <p:extLst>
      <p:ext uri="{BB962C8B-B14F-4D97-AF65-F5344CB8AC3E}">
        <p14:creationId xmlns:p14="http://schemas.microsoft.com/office/powerpoint/2010/main" val="388749782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870</TotalTime>
  <Words>658</Words>
  <Application>Microsoft Office PowerPoint</Application>
  <PresentationFormat>Widescreen</PresentationFormat>
  <Paragraphs>54</Paragraphs>
  <Slides>17</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Century Gothic</vt:lpstr>
      <vt:lpstr>Times New Roman</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desairoopa868@gmail.com</dc:creator>
  <cp:lastModifiedBy>Basavaraj Goudappanavar</cp:lastModifiedBy>
  <cp:revision>12</cp:revision>
  <dcterms:created xsi:type="dcterms:W3CDTF">2024-11-28T14:10:32Z</dcterms:created>
  <dcterms:modified xsi:type="dcterms:W3CDTF">2025-12-15T15:24:25Z</dcterms:modified>
</cp:coreProperties>
</file>